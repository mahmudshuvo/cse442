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3"/>
  </p:sldMasterIdLst>
  <p:notesMasterIdLst>
    <p:notesMasterId r:id="rId4"/>
  </p:notesMasterIdLst>
  <p:sldIdLst>
    <p:sldId id="256" r:id="rId5"/>
    <p:sldId id="257" r:id="rId6"/>
    <p:sldId id="258" r:id="rId7"/>
    <p:sldId id="259" r:id="rId8"/>
    <p:sldId id="260" r:id="rId9"/>
    <p:sldId id="261" r:id="rId10"/>
    <p:sldId id="262" r:id="rId11"/>
  </p:sldIdLst>
  <p:sldSz cy="5143500" cx="9144000"/>
  <p:notesSz cx="6858000" cy="9144000"/>
  <p:embeddedFontLst>
    <p:embeddedFont>
      <p:font typeface="Roboto"/>
      <p:regular r:id="rId12"/>
      <p:bold r:id="rId13"/>
      <p:italic r:id="rId14"/>
      <p:boldItalic r:id="rId15"/>
    </p:embeddedFont>
    <p:embeddedFont>
      <p:font typeface="Merriweather Light"/>
      <p:regular r:id="rId16"/>
      <p:bold r:id="rId17"/>
      <p:italic r:id="rId18"/>
      <p:boldItalic r:id="rId19"/>
    </p:embeddedFont>
    <p:embeddedFont>
      <p:font typeface="Montserrat"/>
      <p:regular r:id="rId20"/>
      <p:bold r:id="rId21"/>
      <p:italic r:id="rId22"/>
      <p:boldItalic r:id="rId23"/>
    </p:embeddedFont>
    <p:embeddedFont>
      <p:font typeface="Open Sans SemiBold"/>
      <p:regular r:id="rId24"/>
      <p:bold r:id="rId25"/>
      <p:italic r:id="rId26"/>
      <p:boldItalic r:id="rId27"/>
    </p:embeddedFont>
    <p:embeddedFont>
      <p:font typeface="Vidaloka"/>
      <p:regular r:id="rId28"/>
    </p:embeddedFont>
    <p:embeddedFont>
      <p:font typeface="Russo One"/>
      <p:regular r:id="rId29"/>
    </p:embeddedFont>
    <p:embeddedFont>
      <p:font typeface="Mako"/>
      <p:regular r:id="rId30"/>
    </p:embeddedFont>
    <p:embeddedFont>
      <p:font typeface="Crimson Text"/>
      <p:regular r:id="rId31"/>
      <p:bold r:id="rId32"/>
      <p:italic r:id="rId33"/>
      <p:boldItalic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rimsonText-regular.fntdata"/><Relationship Id="rId30" Type="http://schemas.openxmlformats.org/officeDocument/2006/relationships/font" Target="fonts/Mako-regular.fntdata"/><Relationship Id="rId33" Type="http://schemas.openxmlformats.org/officeDocument/2006/relationships/font" Target="fonts/CrimsonText-italic.fntdata"/><Relationship Id="rId32" Type="http://schemas.openxmlformats.org/officeDocument/2006/relationships/font" Target="fonts/CrimsonText-bold.fntdata"/><Relationship Id="rId35" Type="http://schemas.openxmlformats.org/officeDocument/2006/relationships/font" Target="fonts/OpenSans-regular.fntdata"/><Relationship Id="rId34" Type="http://schemas.openxmlformats.org/officeDocument/2006/relationships/font" Target="fonts/CrimsonText-boldItalic.fntdata"/><Relationship Id="rId37" Type="http://schemas.openxmlformats.org/officeDocument/2006/relationships/font" Target="fonts/OpenSans-italic.fntdata"/><Relationship Id="rId36" Type="http://schemas.openxmlformats.org/officeDocument/2006/relationships/font" Target="fonts/OpenSans-bold.fntdata"/><Relationship Id="rId38" Type="http://schemas.openxmlformats.org/officeDocument/2006/relationships/font" Target="fonts/OpenSans-boldItalic.fntdata"/><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OpenSansSemiBold-regular.fntdata"/><Relationship Id="rId23" Type="http://schemas.openxmlformats.org/officeDocument/2006/relationships/font" Target="fonts/Montserrat-boldItalic.fntdata"/><Relationship Id="rId26" Type="http://schemas.openxmlformats.org/officeDocument/2006/relationships/font" Target="fonts/OpenSansSemiBold-italic.fntdata"/><Relationship Id="rId25" Type="http://schemas.openxmlformats.org/officeDocument/2006/relationships/font" Target="fonts/OpenSansSemiBold-bold.fntdata"/><Relationship Id="rId28" Type="http://schemas.openxmlformats.org/officeDocument/2006/relationships/font" Target="fonts/Vidaloka-regular.fntdata"/><Relationship Id="rId27" Type="http://schemas.openxmlformats.org/officeDocument/2006/relationships/font" Target="fonts/OpenSansSemiBold-boldItalic.fntdata"/><Relationship Id="rId29" Type="http://schemas.openxmlformats.org/officeDocument/2006/relationships/font" Target="fonts/RussoOne-regular.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Roboto-bold.fntdata"/><Relationship Id="rId12" Type="http://schemas.openxmlformats.org/officeDocument/2006/relationships/font" Target="fonts/Roboto-regular.fntdata"/><Relationship Id="rId15" Type="http://schemas.openxmlformats.org/officeDocument/2006/relationships/font" Target="fonts/Roboto-boldItalic.fntdata"/><Relationship Id="rId14" Type="http://schemas.openxmlformats.org/officeDocument/2006/relationships/font" Target="fonts/Roboto-italic.fntdata"/><Relationship Id="rId17" Type="http://schemas.openxmlformats.org/officeDocument/2006/relationships/font" Target="fonts/MerriweatherLight-bold.fntdata"/><Relationship Id="rId16" Type="http://schemas.openxmlformats.org/officeDocument/2006/relationships/font" Target="fonts/MerriweatherLight-regular.fntdata"/><Relationship Id="rId19" Type="http://schemas.openxmlformats.org/officeDocument/2006/relationships/font" Target="fonts/MerriweatherLight-boldItalic.fntdata"/><Relationship Id="rId18" Type="http://schemas.openxmlformats.org/officeDocument/2006/relationships/font" Target="fonts/Merriweather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cc7554a049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cc7554a049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cf563b4a8c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2cf563b4a8c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cf7a3c50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cf7a3c50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cf563b4a8c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cf563b4a8c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05aad17dc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05aad17dc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cd8a80d6b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cd8a80d6b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324500"/>
            <a:ext cx="70641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77100"/>
            <a:ext cx="7064100" cy="441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2714550" y="2366272"/>
            <a:ext cx="3714900" cy="8184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076675"/>
            <a:ext cx="4561200" cy="39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0010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0010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6552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6552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0010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00100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6552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65525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23786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57244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237870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572445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89" name="Shape 89"/>
        <p:cNvGrpSpPr/>
        <p:nvPr/>
      </p:nvGrpSpPr>
      <p:grpSpPr>
        <a:xfrm>
          <a:off x="0" y="0"/>
          <a:ext cx="0" cy="0"/>
          <a:chOff x="0" y="0"/>
          <a:chExt cx="0" cy="0"/>
        </a:xfrm>
      </p:grpSpPr>
      <p:sp>
        <p:nvSpPr>
          <p:cNvPr id="90" name="Google Shape;90;p14"/>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 name="Google Shape;111;p1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2" name="Google Shape;112;p1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13" name="Shape 113"/>
        <p:cNvGrpSpPr/>
        <p:nvPr/>
      </p:nvGrpSpPr>
      <p:grpSpPr>
        <a:xfrm>
          <a:off x="0" y="0"/>
          <a:ext cx="0" cy="0"/>
          <a:chOff x="0" y="0"/>
          <a:chExt cx="0" cy="0"/>
        </a:xfrm>
      </p:grpSpPr>
      <p:sp>
        <p:nvSpPr>
          <p:cNvPr id="114" name="Google Shape;114;p15"/>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 name="Google Shape;117;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18" name="Shape 118"/>
        <p:cNvGrpSpPr/>
        <p:nvPr/>
      </p:nvGrpSpPr>
      <p:grpSpPr>
        <a:xfrm>
          <a:off x="0" y="0"/>
          <a:ext cx="0" cy="0"/>
          <a:chOff x="0" y="0"/>
          <a:chExt cx="0" cy="0"/>
        </a:xfrm>
      </p:grpSpPr>
      <p:sp>
        <p:nvSpPr>
          <p:cNvPr id="119" name="Google Shape;119;p16"/>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2" name="Google Shape;12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 name="Google Shape;123;p1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 name="Google Shape;124;p1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25" name="Shape 125"/>
        <p:cNvGrpSpPr/>
        <p:nvPr/>
      </p:nvGrpSpPr>
      <p:grpSpPr>
        <a:xfrm>
          <a:off x="0" y="0"/>
          <a:ext cx="0" cy="0"/>
          <a:chOff x="0" y="0"/>
          <a:chExt cx="0" cy="0"/>
        </a:xfrm>
      </p:grpSpPr>
      <p:sp>
        <p:nvSpPr>
          <p:cNvPr id="126" name="Google Shape;126;p17"/>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27" name="Google Shape;127;p17"/>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28" name="Google Shape;12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9" name="Google Shape;12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 name="Google Shape;130;p1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 name="Google Shape;131;p1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2" name="Shape 132"/>
        <p:cNvGrpSpPr/>
        <p:nvPr/>
      </p:nvGrpSpPr>
      <p:grpSpPr>
        <a:xfrm>
          <a:off x="0" y="0"/>
          <a:ext cx="0" cy="0"/>
          <a:chOff x="0" y="0"/>
          <a:chExt cx="0" cy="0"/>
        </a:xfrm>
      </p:grpSpPr>
      <p:sp>
        <p:nvSpPr>
          <p:cNvPr id="133" name="Google Shape;133;p18"/>
          <p:cNvSpPr txBox="1"/>
          <p:nvPr>
            <p:ph type="title"/>
          </p:nvPr>
        </p:nvSpPr>
        <p:spPr>
          <a:xfrm>
            <a:off x="1994850" y="1482825"/>
            <a:ext cx="51543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9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34" name="Google Shape;134;p18"/>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35" name="Google Shape;135;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37" name="Shape 137"/>
        <p:cNvGrpSpPr/>
        <p:nvPr/>
      </p:nvGrpSpPr>
      <p:grpSpPr>
        <a:xfrm>
          <a:off x="0" y="0"/>
          <a:ext cx="0" cy="0"/>
          <a:chOff x="0" y="0"/>
          <a:chExt cx="0" cy="0"/>
        </a:xfrm>
      </p:grpSpPr>
      <p:sp>
        <p:nvSpPr>
          <p:cNvPr id="138" name="Google Shape;138;p19"/>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39" name="Google Shape;139;p19"/>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0" name="Google Shape;140;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1" name="Google Shape;141;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2" name="Google Shape;142;p1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3" name="Google Shape;143;p1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4" name="Google Shape;144;p1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5" name="Google Shape;145;p1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46" name="Shape 146"/>
        <p:cNvGrpSpPr/>
        <p:nvPr/>
      </p:nvGrpSpPr>
      <p:grpSpPr>
        <a:xfrm>
          <a:off x="0" y="0"/>
          <a:ext cx="0" cy="0"/>
          <a:chOff x="0" y="0"/>
          <a:chExt cx="0" cy="0"/>
        </a:xfrm>
      </p:grpSpPr>
      <p:sp>
        <p:nvSpPr>
          <p:cNvPr id="147" name="Google Shape;147;p20"/>
          <p:cNvSpPr txBox="1"/>
          <p:nvPr>
            <p:ph type="title"/>
          </p:nvPr>
        </p:nvSpPr>
        <p:spPr>
          <a:xfrm>
            <a:off x="1677925" y="2511803"/>
            <a:ext cx="3714900" cy="8058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8" name="Google Shape;148;p20"/>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49" name="Google Shape;149;p20"/>
          <p:cNvSpPr txBox="1"/>
          <p:nvPr>
            <p:ph idx="1" type="subTitle"/>
          </p:nvPr>
        </p:nvSpPr>
        <p:spPr>
          <a:xfrm>
            <a:off x="831625" y="3244000"/>
            <a:ext cx="4561200" cy="393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50" name="Google Shape;150;p20"/>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1" name="Google Shape;151;p20"/>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2" name="Google Shape;152;p20"/>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3" name="Google Shape;153;p20"/>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54" name="Shape 154"/>
        <p:cNvGrpSpPr/>
        <p:nvPr/>
      </p:nvGrpSpPr>
      <p:grpSpPr>
        <a:xfrm>
          <a:off x="0" y="0"/>
          <a:ext cx="0" cy="0"/>
          <a:chOff x="0" y="0"/>
          <a:chExt cx="0" cy="0"/>
        </a:xfrm>
      </p:grpSpPr>
      <p:sp>
        <p:nvSpPr>
          <p:cNvPr id="155" name="Google Shape;155;p21"/>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56" name="Google Shape;156;p2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7" name="Google Shape;157;p2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8" name="Google Shape;158;p21"/>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59"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1" name="Google Shape;161;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2" name="Google Shape;162;p2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3" name="Google Shape;163;p2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4" name="Google Shape;164;p2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5" name="Google Shape;165;p22"/>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66" name="Google Shape;166;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67" name="Shape 167"/>
        <p:cNvGrpSpPr/>
        <p:nvPr/>
      </p:nvGrpSpPr>
      <p:grpSpPr>
        <a:xfrm>
          <a:off x="0" y="0"/>
          <a:ext cx="0" cy="0"/>
          <a:chOff x="0" y="0"/>
          <a:chExt cx="0" cy="0"/>
        </a:xfrm>
      </p:grpSpPr>
      <p:sp>
        <p:nvSpPr>
          <p:cNvPr id="168" name="Google Shape;168;p23"/>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9" name="Google Shape;169;p23"/>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0" name="Google Shape;170;p23"/>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1" name="Google Shape;171;p23"/>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2" name="Google Shape;172;p23"/>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3" name="Google Shape;173;p23"/>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4" name="Google Shape;174;p23"/>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5" name="Google Shape;175;p23"/>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6" name="Google Shape;176;p23"/>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77" name="Google Shape;177;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78" name="Google Shape;178;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79" name="Shape 179"/>
        <p:cNvGrpSpPr/>
        <p:nvPr/>
      </p:nvGrpSpPr>
      <p:grpSpPr>
        <a:xfrm>
          <a:off x="0" y="0"/>
          <a:ext cx="0" cy="0"/>
          <a:chOff x="0" y="0"/>
          <a:chExt cx="0" cy="0"/>
        </a:xfrm>
      </p:grpSpPr>
      <p:cxnSp>
        <p:nvCxnSpPr>
          <p:cNvPr id="180" name="Google Shape;180;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1" name="Google Shape;181;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2" name="Google Shape;182;p2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83" name="Google Shape;183;p2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84" name="Google Shape;184;p24"/>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85" name="Shape 185"/>
        <p:cNvGrpSpPr/>
        <p:nvPr/>
      </p:nvGrpSpPr>
      <p:grpSpPr>
        <a:xfrm>
          <a:off x="0" y="0"/>
          <a:ext cx="0" cy="0"/>
          <a:chOff x="0" y="0"/>
          <a:chExt cx="0" cy="0"/>
        </a:xfrm>
      </p:grpSpPr>
      <p:sp>
        <p:nvSpPr>
          <p:cNvPr id="186" name="Google Shape;186;p25"/>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87" name="Google Shape;187;p25"/>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88" name="Google Shape;188;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9" name="Google Shape;189;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0" name="Google Shape;190;p2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91" name="Google Shape;191;p2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92" name="Shape 192"/>
        <p:cNvGrpSpPr/>
        <p:nvPr/>
      </p:nvGrpSpPr>
      <p:grpSpPr>
        <a:xfrm>
          <a:off x="0" y="0"/>
          <a:ext cx="0" cy="0"/>
          <a:chOff x="0" y="0"/>
          <a:chExt cx="0" cy="0"/>
        </a:xfrm>
      </p:grpSpPr>
      <p:sp>
        <p:nvSpPr>
          <p:cNvPr id="193" name="Google Shape;193;p26"/>
          <p:cNvSpPr txBox="1"/>
          <p:nvPr>
            <p:ph type="title"/>
          </p:nvPr>
        </p:nvSpPr>
        <p:spPr>
          <a:xfrm>
            <a:off x="4956100" y="2467375"/>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94" name="Google Shape;194;p26"/>
          <p:cNvSpPr txBox="1"/>
          <p:nvPr>
            <p:ph hasCustomPrompt="1" idx="2" type="title"/>
          </p:nvPr>
        </p:nvSpPr>
        <p:spPr>
          <a:xfrm>
            <a:off x="4956100" y="1402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195" name="Google Shape;195;p26"/>
          <p:cNvSpPr txBox="1"/>
          <p:nvPr>
            <p:ph idx="1" type="subTitle"/>
          </p:nvPr>
        </p:nvSpPr>
        <p:spPr>
          <a:xfrm>
            <a:off x="4956100" y="3116275"/>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96" name="Google Shape;196;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7" name="Google Shape;197;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8" name="Google Shape;198;p26"/>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199" name="Shape 199"/>
        <p:cNvGrpSpPr/>
        <p:nvPr/>
      </p:nvGrpSpPr>
      <p:grpSpPr>
        <a:xfrm>
          <a:off x="0" y="0"/>
          <a:ext cx="0" cy="0"/>
          <a:chOff x="0" y="0"/>
          <a:chExt cx="0" cy="0"/>
        </a:xfrm>
      </p:grpSpPr>
      <p:sp>
        <p:nvSpPr>
          <p:cNvPr id="200" name="Google Shape;200;p27"/>
          <p:cNvSpPr txBox="1"/>
          <p:nvPr>
            <p:ph type="title"/>
          </p:nvPr>
        </p:nvSpPr>
        <p:spPr>
          <a:xfrm>
            <a:off x="4373850" y="944250"/>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1" name="Google Shape;201;p27"/>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2" name="Google Shape;202;p27"/>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3" name="Google Shape;203;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4" name="Google Shape;204;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5" name="Google Shape;205;p2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6" name="Google Shape;206;p2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7" name="Google Shape;207;p2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8" name="Google Shape;208;p2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209" name="Shape 209"/>
        <p:cNvGrpSpPr/>
        <p:nvPr/>
      </p:nvGrpSpPr>
      <p:grpSpPr>
        <a:xfrm>
          <a:off x="0" y="0"/>
          <a:ext cx="0" cy="0"/>
          <a:chOff x="0" y="0"/>
          <a:chExt cx="0" cy="0"/>
        </a:xfrm>
      </p:grpSpPr>
      <p:sp>
        <p:nvSpPr>
          <p:cNvPr id="210" name="Google Shape;210;p28"/>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1" name="Google Shape;211;p28"/>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2" name="Google Shape;212;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3" name="Google Shape;213;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4" name="Google Shape;214;p28"/>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215" name="Shape 215"/>
        <p:cNvGrpSpPr/>
        <p:nvPr/>
      </p:nvGrpSpPr>
      <p:grpSpPr>
        <a:xfrm>
          <a:off x="0" y="0"/>
          <a:ext cx="0" cy="0"/>
          <a:chOff x="0" y="0"/>
          <a:chExt cx="0" cy="0"/>
        </a:xfrm>
      </p:grpSpPr>
      <p:sp>
        <p:nvSpPr>
          <p:cNvPr id="216" name="Google Shape;216;p29"/>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7" name="Google Shape;217;p29"/>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8" name="Google Shape;218;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9" name="Google Shape;219;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1" name="Google Shape;221;p2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2" name="Google Shape;222;p2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3" name="Google Shape;223;p2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24" name="Shape 224"/>
        <p:cNvGrpSpPr/>
        <p:nvPr/>
      </p:nvGrpSpPr>
      <p:grpSpPr>
        <a:xfrm>
          <a:off x="0" y="0"/>
          <a:ext cx="0" cy="0"/>
          <a:chOff x="0" y="0"/>
          <a:chExt cx="0" cy="0"/>
        </a:xfrm>
      </p:grpSpPr>
      <p:sp>
        <p:nvSpPr>
          <p:cNvPr id="225" name="Google Shape;225;p30"/>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26" name="Google Shape;226;p30"/>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7" name="Google Shape;227;p30"/>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28" name="Google Shape;228;p30"/>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9" name="Google Shape;229;p30"/>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0" name="Google Shape;230;p30"/>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1" name="Google Shape;231;p30"/>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32" name="Google Shape;232;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3" name="Google Shape;233;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234" name="Shape 234"/>
        <p:cNvGrpSpPr/>
        <p:nvPr/>
      </p:nvGrpSpPr>
      <p:grpSpPr>
        <a:xfrm>
          <a:off x="0" y="0"/>
          <a:ext cx="0" cy="0"/>
          <a:chOff x="0" y="0"/>
          <a:chExt cx="0" cy="0"/>
        </a:xfrm>
      </p:grpSpPr>
      <p:sp>
        <p:nvSpPr>
          <p:cNvPr id="235" name="Google Shape;235;p31"/>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6" name="Google Shape;236;p31"/>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7" name="Google Shape;237;p31"/>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8" name="Google Shape;238;p31"/>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9" name="Google Shape;239;p31"/>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0" name="Google Shape;240;p31"/>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1" name="Google Shape;241;p31"/>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42" name="Google Shape;242;p31"/>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3" name="Google Shape;243;p31"/>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4" name="Google Shape;244;p31"/>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5" name="Google Shape;245;p31"/>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6" name="Google Shape;246;p31"/>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7" name="Google Shape;247;p31"/>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248" name="Google Shape;248;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49" name="Google Shape;249;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0" name="Google Shape;250;p3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1" name="Google Shape;251;p3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
  <p:cSld name="CUSTOM_32">
    <p:spTree>
      <p:nvGrpSpPr>
        <p:cNvPr id="252" name="Shape 252"/>
        <p:cNvGrpSpPr/>
        <p:nvPr/>
      </p:nvGrpSpPr>
      <p:grpSpPr>
        <a:xfrm>
          <a:off x="0" y="0"/>
          <a:ext cx="0" cy="0"/>
          <a:chOff x="0" y="0"/>
          <a:chExt cx="0" cy="0"/>
        </a:xfrm>
      </p:grpSpPr>
      <p:sp>
        <p:nvSpPr>
          <p:cNvPr id="253" name="Google Shape;253;p32"/>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4" name="Google Shape;254;p32"/>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5" name="Google Shape;255;p32"/>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6" name="Google Shape;256;p32"/>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7" name="Google Shape;257;p32"/>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8" name="Google Shape;258;p32"/>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9" name="Google Shape;259;p32"/>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0" name="Google Shape;260;p32"/>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1" name="Google Shape;261;p32"/>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2" name="Google Shape;262;p32"/>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3" name="Google Shape;263;p32"/>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4" name="Google Shape;264;p32"/>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5" name="Google Shape;265;p32"/>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66" name="Google Shape;266;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67" name="Google Shape;267;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268" name="Shape 268"/>
        <p:cNvGrpSpPr/>
        <p:nvPr/>
      </p:nvGrpSpPr>
      <p:grpSpPr>
        <a:xfrm>
          <a:off x="0" y="0"/>
          <a:ext cx="0" cy="0"/>
          <a:chOff x="0" y="0"/>
          <a:chExt cx="0" cy="0"/>
        </a:xfrm>
      </p:grpSpPr>
      <p:sp>
        <p:nvSpPr>
          <p:cNvPr id="269" name="Google Shape;269;p33"/>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0" name="Google Shape;270;p33"/>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1" name="Google Shape;271;p33"/>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2" name="Google Shape;272;p33"/>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3" name="Google Shape;273;p33"/>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4" name="Google Shape;274;p33"/>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5" name="Google Shape;275;p33"/>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6" name="Google Shape;276;p33"/>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7" name="Google Shape;277;p33"/>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8" name="Google Shape;278;p33"/>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9" name="Google Shape;279;p33"/>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80" name="Google Shape;280;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1" name="Google Shape;281;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2" name="Google Shape;282;p3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3" name="Google Shape;283;p3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284" name="Shape 284"/>
        <p:cNvGrpSpPr/>
        <p:nvPr/>
      </p:nvGrpSpPr>
      <p:grpSpPr>
        <a:xfrm>
          <a:off x="0" y="0"/>
          <a:ext cx="0" cy="0"/>
          <a:chOff x="0" y="0"/>
          <a:chExt cx="0" cy="0"/>
        </a:xfrm>
      </p:grpSpPr>
      <p:sp>
        <p:nvSpPr>
          <p:cNvPr id="285" name="Google Shape;285;p34"/>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286" name="Google Shape;286;p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7" name="Google Shape;287;p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8" name="Google Shape;288;p3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9" name="Google Shape;289;p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0" name="Google Shape;290;p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1" name="Google Shape;291;p3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292" name="Shape 292"/>
        <p:cNvGrpSpPr/>
        <p:nvPr/>
      </p:nvGrpSpPr>
      <p:grpSpPr>
        <a:xfrm>
          <a:off x="0" y="0"/>
          <a:ext cx="0" cy="0"/>
          <a:chOff x="0" y="0"/>
          <a:chExt cx="0" cy="0"/>
        </a:xfrm>
      </p:grpSpPr>
      <p:sp>
        <p:nvSpPr>
          <p:cNvPr id="293" name="Google Shape;293;p35"/>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4" name="Google Shape;294;p35"/>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5" name="Google Shape;295;p35"/>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6" name="Google Shape;296;p35"/>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7" name="Google Shape;297;p35"/>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8" name="Google Shape;298;p35"/>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9" name="Google Shape;299;p35"/>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0" name="Google Shape;300;p35"/>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1" name="Google Shape;301;p35"/>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02" name="Google Shape;302;p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03" name="Google Shape;303;p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304" name="Shape 304"/>
        <p:cNvGrpSpPr/>
        <p:nvPr/>
      </p:nvGrpSpPr>
      <p:grpSpPr>
        <a:xfrm>
          <a:off x="0" y="0"/>
          <a:ext cx="0" cy="0"/>
          <a:chOff x="0" y="0"/>
          <a:chExt cx="0" cy="0"/>
        </a:xfrm>
      </p:grpSpPr>
      <p:sp>
        <p:nvSpPr>
          <p:cNvPr id="305" name="Google Shape;305;p36"/>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6" name="Google Shape;306;p36"/>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7" name="Google Shape;307;p36"/>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8" name="Google Shape;308;p36"/>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9" name="Google Shape;309;p36"/>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0" name="Google Shape;310;p36"/>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1" name="Google Shape;311;p36"/>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2" name="Google Shape;312;p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3" name="Google Shape;313;p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4" name="Google Shape;314;p36"/>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315" name="Shape 315"/>
        <p:cNvGrpSpPr/>
        <p:nvPr/>
      </p:nvGrpSpPr>
      <p:grpSpPr>
        <a:xfrm>
          <a:off x="0" y="0"/>
          <a:ext cx="0" cy="0"/>
          <a:chOff x="0" y="0"/>
          <a:chExt cx="0" cy="0"/>
        </a:xfrm>
      </p:grpSpPr>
      <p:cxnSp>
        <p:nvCxnSpPr>
          <p:cNvPr id="316" name="Google Shape;316;p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7" name="Google Shape;317;p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8" name="Google Shape;318;p3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19" name="Google Shape;319;p3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0" name="Google Shape;320;p3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1" name="Google Shape;321;p3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22" name="Google Shape;322;p37"/>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3" name="Google Shape;323;p37"/>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4" name="Google Shape;324;p37"/>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5" name="Google Shape;325;p37"/>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6" name="Google Shape;326;p37"/>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7" name="Google Shape;327;p37"/>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8" name="Google Shape;328;p37"/>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9" name="Google Shape;329;p37"/>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0" name="Google Shape;330;p37"/>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1" name="Google Shape;331;p37"/>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335" name="Shape 335"/>
        <p:cNvGrpSpPr/>
        <p:nvPr/>
      </p:nvGrpSpPr>
      <p:grpSpPr>
        <a:xfrm>
          <a:off x="0" y="0"/>
          <a:ext cx="0" cy="0"/>
          <a:chOff x="0" y="0"/>
          <a:chExt cx="0" cy="0"/>
        </a:xfrm>
      </p:grpSpPr>
      <p:sp>
        <p:nvSpPr>
          <p:cNvPr id="336" name="Google Shape;336;p38"/>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7" name="Google Shape;337;p38"/>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38" name="Google Shape;338;p38"/>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9" name="Google Shape;339;p38"/>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0" name="Google Shape;340;p38"/>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1" name="Google Shape;341;p38"/>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2" name="Google Shape;342;p38"/>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3" name="Google Shape;343;p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44" name="Google Shape;344;p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345" name="Shape 345"/>
        <p:cNvGrpSpPr/>
        <p:nvPr/>
      </p:nvGrpSpPr>
      <p:grpSpPr>
        <a:xfrm>
          <a:off x="0" y="0"/>
          <a:ext cx="0" cy="0"/>
          <a:chOff x="0" y="0"/>
          <a:chExt cx="0" cy="0"/>
        </a:xfrm>
      </p:grpSpPr>
      <p:sp>
        <p:nvSpPr>
          <p:cNvPr id="346" name="Google Shape;346;p39"/>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7" name="Google Shape;347;p39"/>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48" name="Google Shape;348;p39"/>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9" name="Google Shape;349;p39"/>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0" name="Google Shape;350;p39"/>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1" name="Google Shape;351;p39"/>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2" name="Google Shape;352;p39"/>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39"/>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4" name="Google Shape;354;p39"/>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55" name="Google Shape;355;p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6" name="Google Shape;356;p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357" name="Shape 357"/>
        <p:cNvGrpSpPr/>
        <p:nvPr/>
      </p:nvGrpSpPr>
      <p:grpSpPr>
        <a:xfrm>
          <a:off x="0" y="0"/>
          <a:ext cx="0" cy="0"/>
          <a:chOff x="0" y="0"/>
          <a:chExt cx="0" cy="0"/>
        </a:xfrm>
      </p:grpSpPr>
      <p:cxnSp>
        <p:nvCxnSpPr>
          <p:cNvPr id="358" name="Google Shape;358;p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9" name="Google Shape;359;p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0" name="Google Shape;360;p4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1" name="Google Shape;361;p4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2" name="Google Shape;362;p4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3" name="Google Shape;363;p4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64" name="Google Shape;364;p40"/>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65" name="Google Shape;365;p40"/>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6" name="Google Shape;366;p40"/>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67" name="Google Shape;367;p40"/>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8" name="Google Shape;368;p40"/>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369" name="Google Shape;369;p40"/>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0" name="Google Shape;370;p40"/>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371" name="Shape 371"/>
        <p:cNvGrpSpPr/>
        <p:nvPr/>
      </p:nvGrpSpPr>
      <p:grpSpPr>
        <a:xfrm>
          <a:off x="0" y="0"/>
          <a:ext cx="0" cy="0"/>
          <a:chOff x="0" y="0"/>
          <a:chExt cx="0" cy="0"/>
        </a:xfrm>
      </p:grpSpPr>
      <p:sp>
        <p:nvSpPr>
          <p:cNvPr id="372" name="Google Shape;372;p41"/>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3" name="Google Shape;373;p41"/>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4" name="Google Shape;374;p41"/>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5" name="Google Shape;375;p41"/>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6" name="Google Shape;376;p41"/>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7" name="Google Shape;377;p41"/>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78" name="Google Shape;378;p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9" name="Google Shape;379;p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380" name="Shape 380"/>
        <p:cNvGrpSpPr/>
        <p:nvPr/>
      </p:nvGrpSpPr>
      <p:grpSpPr>
        <a:xfrm>
          <a:off x="0" y="0"/>
          <a:ext cx="0" cy="0"/>
          <a:chOff x="0" y="0"/>
          <a:chExt cx="0" cy="0"/>
        </a:xfrm>
      </p:grpSpPr>
      <p:sp>
        <p:nvSpPr>
          <p:cNvPr id="381" name="Google Shape;381;p42"/>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2" name="Google Shape;382;p42"/>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3" name="Google Shape;383;p42"/>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4" name="Google Shape;384;p42"/>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5" name="Google Shape;385;p42"/>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6" name="Google Shape;386;p42"/>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87" name="Google Shape;387;p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8" name="Google Shape;388;p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9" name="Google Shape;389;p4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0" name="Google Shape;390;p4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1" name="Google Shape;391;p4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92" name="Google Shape;392;p42"/>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3" name="Google Shape;393;p42"/>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4" name="Google Shape;394;p42"/>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395" name="Shape 395"/>
        <p:cNvGrpSpPr/>
        <p:nvPr/>
      </p:nvGrpSpPr>
      <p:grpSpPr>
        <a:xfrm>
          <a:off x="0" y="0"/>
          <a:ext cx="0" cy="0"/>
          <a:chOff x="0" y="0"/>
          <a:chExt cx="0" cy="0"/>
        </a:xfrm>
      </p:grpSpPr>
      <p:sp>
        <p:nvSpPr>
          <p:cNvPr id="396" name="Google Shape;396;p43"/>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7" name="Google Shape;397;p43"/>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398" name="Google Shape;398;p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9" name="Google Shape;399;p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400" name="Shape 400"/>
        <p:cNvGrpSpPr/>
        <p:nvPr/>
      </p:nvGrpSpPr>
      <p:grpSpPr>
        <a:xfrm>
          <a:off x="0" y="0"/>
          <a:ext cx="0" cy="0"/>
          <a:chOff x="0" y="0"/>
          <a:chExt cx="0" cy="0"/>
        </a:xfrm>
      </p:grpSpPr>
      <p:sp>
        <p:nvSpPr>
          <p:cNvPr id="401" name="Google Shape;401;p44"/>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02" name="Google Shape;402;p44"/>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403" name="Google Shape;403;p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4" name="Google Shape;404;p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405" name="Shape 405"/>
        <p:cNvGrpSpPr/>
        <p:nvPr/>
      </p:nvGrpSpPr>
      <p:grpSpPr>
        <a:xfrm>
          <a:off x="0" y="0"/>
          <a:ext cx="0" cy="0"/>
          <a:chOff x="0" y="0"/>
          <a:chExt cx="0" cy="0"/>
        </a:xfrm>
      </p:grpSpPr>
      <p:sp>
        <p:nvSpPr>
          <p:cNvPr id="406" name="Google Shape;406;p45"/>
          <p:cNvSpPr txBox="1"/>
          <p:nvPr>
            <p:ph idx="1" type="subTitle"/>
          </p:nvPr>
        </p:nvSpPr>
        <p:spPr>
          <a:xfrm>
            <a:off x="4166800" y="1453525"/>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07" name="Google Shape;407;p45"/>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08" name="Google Shape;408;p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9" name="Google Shape;409;p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0" name="Google Shape;410;p45"/>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411" name="Shape 411"/>
        <p:cNvGrpSpPr/>
        <p:nvPr/>
      </p:nvGrpSpPr>
      <p:grpSpPr>
        <a:xfrm>
          <a:off x="0" y="0"/>
          <a:ext cx="0" cy="0"/>
          <a:chOff x="0" y="0"/>
          <a:chExt cx="0" cy="0"/>
        </a:xfrm>
      </p:grpSpPr>
      <p:cxnSp>
        <p:nvCxnSpPr>
          <p:cNvPr id="412" name="Google Shape;412;p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3" name="Google Shape;413;p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4" name="Google Shape;414;p46"/>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5" name="Google Shape;415;p4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6" name="Google Shape;416;p4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7" name="Google Shape;417;p4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418" name="Google Shape;418;p46"/>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19" name="Google Shape;419;p46"/>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20" name="Google Shape;420;p46"/>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421" name="Shape 421"/>
        <p:cNvGrpSpPr/>
        <p:nvPr/>
      </p:nvGrpSpPr>
      <p:grpSpPr>
        <a:xfrm>
          <a:off x="0" y="0"/>
          <a:ext cx="0" cy="0"/>
          <a:chOff x="0" y="0"/>
          <a:chExt cx="0" cy="0"/>
        </a:xfrm>
      </p:grpSpPr>
      <p:sp>
        <p:nvSpPr>
          <p:cNvPr id="422" name="Google Shape;422;p47"/>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3" name="Google Shape;423;p47"/>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4" name="Google Shape;424;p47"/>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5" name="Google Shape;425;p47"/>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6" name="Google Shape;426;p47"/>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27" name="Google Shape;427;p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28" name="Google Shape;428;p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429" name="Shape 429"/>
        <p:cNvGrpSpPr/>
        <p:nvPr/>
      </p:nvGrpSpPr>
      <p:grpSpPr>
        <a:xfrm>
          <a:off x="0" y="0"/>
          <a:ext cx="0" cy="0"/>
          <a:chOff x="0" y="0"/>
          <a:chExt cx="0" cy="0"/>
        </a:xfrm>
      </p:grpSpPr>
      <p:sp>
        <p:nvSpPr>
          <p:cNvPr id="430" name="Google Shape;430;p48"/>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31" name="Google Shape;431;p48"/>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2" name="Google Shape;432;p48"/>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3" name="Google Shape;433;p48"/>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4" name="Google Shape;434;p48"/>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5" name="Google Shape;435;p48"/>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6" name="Google Shape;436;p48"/>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37" name="Google Shape;437;p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8" name="Google Shape;438;p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9" name="Google Shape;439;p4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0" name="Google Shape;440;p4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1" name="Shape 441"/>
        <p:cNvGrpSpPr/>
        <p:nvPr/>
      </p:nvGrpSpPr>
      <p:grpSpPr>
        <a:xfrm>
          <a:off x="0" y="0"/>
          <a:ext cx="0" cy="0"/>
          <a:chOff x="0" y="0"/>
          <a:chExt cx="0" cy="0"/>
        </a:xfrm>
      </p:grpSpPr>
      <p:sp>
        <p:nvSpPr>
          <p:cNvPr id="442" name="Google Shape;442;p49"/>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443" name="Google Shape;443;p49"/>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4" name="Google Shape;444;p49"/>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6" name="Google Shape;446;p49"/>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7" name="Google Shape;447;p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8" name="Google Shape;448;p49"/>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49"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1" name="Google Shape;451;p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52"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4" name="Google Shape;454;p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5" name="Google Shape;455;p51"/>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56" name="Google Shape;456;p51"/>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57"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9" name="Google Shape;459;p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0" name="Google Shape;460;p52"/>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46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3" name="Google Shape;463;p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4" name="Google Shape;464;p5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5" name="Google Shape;465;p5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6" name="Google Shape;466;p5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7" name="Google Shape;467;p5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theme" Target="../theme/theme1.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github.com/mrdoob/three.js?fbclid=IwZXh0bgNhZW0CMTAAAR391oun554qwjYYL4EQjQYPaXDQrI_Yzbj1N6FOvCFt7HX9q3Lk9jLKv6s_aem_AaoLaqM7CxjUBX7aLvZWrSwVmZajBR8-oa_wfO6YeYK1r6FICGPkPx4i8TE0BeWlaPNw1yUh3RDuUSlUEWKXDaFg" TargetMode="External"/><Relationship Id="rId4" Type="http://schemas.openxmlformats.org/officeDocument/2006/relationships/hyperlink" Target="https://github.com/ruanyf/react-demos" TargetMode="External"/><Relationship Id="rId5" Type="http://schemas.openxmlformats.org/officeDocument/2006/relationships/hyperlink" Target="https://github.com/babaohuang/GeminiProChat?fbclid=IwZXh0bgNhZW0CMTAAAR2yenxIEXNtoubqkDc1ARX_ILKOecwQK0RyWyD-MdetGc4SbZ2ATBXvnMY_aem_Aap1q4yOnoTP7RfYVRUiHJd1hRL5DVCs7nEFz5bSvCfzPr7Dg5nqJrZoULO8rBrWxIqjJkD5WYzAtcAeSZgy3JM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4"/>
          <p:cNvSpPr txBox="1"/>
          <p:nvPr>
            <p:ph type="ctrTitle"/>
          </p:nvPr>
        </p:nvSpPr>
        <p:spPr>
          <a:xfrm>
            <a:off x="1241450" y="-361700"/>
            <a:ext cx="7064100" cy="188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Literature Review of 3D Jersey Design</a:t>
            </a:r>
            <a:endParaRPr sz="3200"/>
          </a:p>
        </p:txBody>
      </p:sp>
      <p:sp>
        <p:nvSpPr>
          <p:cNvPr id="473" name="Google Shape;473;p54"/>
          <p:cNvSpPr txBox="1"/>
          <p:nvPr>
            <p:ph idx="1" type="subTitle"/>
          </p:nvPr>
        </p:nvSpPr>
        <p:spPr>
          <a:xfrm>
            <a:off x="669950" y="1637850"/>
            <a:ext cx="7678200" cy="276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t>Group No: 10</a:t>
            </a:r>
            <a:endParaRPr b="1" sz="1800"/>
          </a:p>
          <a:p>
            <a:pPr indent="0" lvl="0" marL="0" rtl="0" algn="l">
              <a:spcBef>
                <a:spcPts val="0"/>
              </a:spcBef>
              <a:spcAft>
                <a:spcPts val="0"/>
              </a:spcAft>
              <a:buClr>
                <a:schemeClr val="dk1"/>
              </a:buClr>
              <a:buSzPts val="1100"/>
              <a:buFont typeface="Arial"/>
              <a:buNone/>
            </a:pPr>
            <a:r>
              <a:t/>
            </a:r>
            <a:endParaRPr b="1" sz="1800"/>
          </a:p>
          <a:p>
            <a:pPr indent="0" lvl="0" marL="0" rtl="0" algn="l">
              <a:spcBef>
                <a:spcPts val="0"/>
              </a:spcBef>
              <a:spcAft>
                <a:spcPts val="0"/>
              </a:spcAft>
              <a:buClr>
                <a:schemeClr val="dk1"/>
              </a:buClr>
              <a:buSzPts val="1100"/>
              <a:buFont typeface="Arial"/>
              <a:buNone/>
            </a:pPr>
            <a:r>
              <a:rPr lang="en" sz="1800"/>
              <a:t>Shariful Islam (19201053)</a:t>
            </a:r>
            <a:endParaRPr sz="1800"/>
          </a:p>
          <a:p>
            <a:pPr indent="0" lvl="0" marL="0" rtl="0" algn="l">
              <a:spcBef>
                <a:spcPts val="0"/>
              </a:spcBef>
              <a:spcAft>
                <a:spcPts val="0"/>
              </a:spcAft>
              <a:buClr>
                <a:schemeClr val="dk1"/>
              </a:buClr>
              <a:buSzPts val="1100"/>
              <a:buFont typeface="Arial"/>
              <a:buNone/>
            </a:pPr>
            <a:r>
              <a:rPr lang="en" sz="1800"/>
              <a:t>Abu Sayed (21201283)</a:t>
            </a:r>
            <a:endParaRPr sz="1800"/>
          </a:p>
          <a:p>
            <a:pPr indent="0" lvl="0" marL="0" rtl="0" algn="l">
              <a:spcBef>
                <a:spcPts val="0"/>
              </a:spcBef>
              <a:spcAft>
                <a:spcPts val="0"/>
              </a:spcAft>
              <a:buClr>
                <a:schemeClr val="dk1"/>
              </a:buClr>
              <a:buSzPts val="1100"/>
              <a:buFont typeface="Arial"/>
              <a:buNone/>
            </a:pPr>
            <a:r>
              <a:rPr lang="en" sz="1800"/>
              <a:t>Rezwan Aziz Prince (24141190)</a:t>
            </a:r>
            <a:endParaRPr sz="1800"/>
          </a:p>
          <a:p>
            <a:pPr indent="0" lvl="0" marL="0" rtl="0" algn="l">
              <a:spcBef>
                <a:spcPts val="0"/>
              </a:spcBef>
              <a:spcAft>
                <a:spcPts val="0"/>
              </a:spcAft>
              <a:buClr>
                <a:schemeClr val="dk1"/>
              </a:buClr>
              <a:buSzPts val="1100"/>
              <a:buFont typeface="Arial"/>
              <a:buNone/>
            </a:pPr>
            <a:r>
              <a:rPr lang="en" sz="1800"/>
              <a:t>Mahmudul Hassan (24141223)</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72"/>
                                        </p:tgtEl>
                                        <p:attrNameLst>
                                          <p:attrName>style.visibility</p:attrName>
                                        </p:attrNameLst>
                                      </p:cBhvr>
                                      <p:to>
                                        <p:strVal val="visible"/>
                                      </p:to>
                                    </p:set>
                                    <p:anim calcmode="lin" valueType="num">
                                      <p:cBhvr additive="base">
                                        <p:cTn dur="1000"/>
                                        <p:tgtEl>
                                          <p:spTgt spid="47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473"/>
                                        </p:tgtEl>
                                        <p:attrNameLst>
                                          <p:attrName>style.visibility</p:attrName>
                                        </p:attrNameLst>
                                      </p:cBhvr>
                                      <p:to>
                                        <p:strVal val="visible"/>
                                      </p:to>
                                    </p:set>
                                    <p:anim calcmode="lin" valueType="num">
                                      <p:cBhvr additive="base">
                                        <p:cTn dur="1000"/>
                                        <p:tgtEl>
                                          <p:spTgt spid="47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5"/>
          <p:cNvSpPr txBox="1"/>
          <p:nvPr>
            <p:ph type="title"/>
          </p:nvPr>
        </p:nvSpPr>
        <p:spPr>
          <a:xfrm>
            <a:off x="266950" y="445025"/>
            <a:ext cx="6956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Paper Review    </a:t>
            </a:r>
            <a:endParaRPr/>
          </a:p>
        </p:txBody>
      </p:sp>
      <p:sp>
        <p:nvSpPr>
          <p:cNvPr id="479" name="Google Shape;479;p55"/>
          <p:cNvSpPr txBox="1"/>
          <p:nvPr>
            <p:ph idx="1" type="body"/>
          </p:nvPr>
        </p:nvSpPr>
        <p:spPr>
          <a:xfrm>
            <a:off x="266950" y="1017725"/>
            <a:ext cx="8505300" cy="363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Arial"/>
                <a:ea typeface="Arial"/>
                <a:cs typeface="Arial"/>
                <a:sym typeface="Arial"/>
              </a:rPr>
              <a:t>Title:</a:t>
            </a:r>
            <a:r>
              <a:rPr lang="en" sz="1400">
                <a:latin typeface="Arial"/>
                <a:ea typeface="Arial"/>
                <a:cs typeface="Arial"/>
                <a:sym typeface="Arial"/>
              </a:rPr>
              <a:t> </a:t>
            </a:r>
            <a:r>
              <a:rPr lang="en" sz="1400">
                <a:solidFill>
                  <a:schemeClr val="dk1"/>
                </a:solidFill>
                <a:latin typeface="Arial"/>
                <a:ea typeface="Arial"/>
                <a:cs typeface="Arial"/>
                <a:sym typeface="Arial"/>
              </a:rPr>
              <a:t>A 3D Process Design Kit Generator based on Customizable 3D Layout Design Environment.</a:t>
            </a:r>
            <a:r>
              <a:rPr lang="en" sz="1200">
                <a:solidFill>
                  <a:schemeClr val="dk1"/>
                </a:solidFill>
                <a:latin typeface="Arial"/>
                <a:ea typeface="Arial"/>
                <a:cs typeface="Arial"/>
                <a:sym typeface="Arial"/>
              </a:rPr>
              <a:t> </a:t>
            </a:r>
            <a:endParaRPr b="1" sz="1400"/>
          </a:p>
          <a:p>
            <a:pPr indent="0" lvl="0" marL="0" rtl="0" algn="l">
              <a:spcBef>
                <a:spcPts val="1200"/>
              </a:spcBef>
              <a:spcAft>
                <a:spcPts val="0"/>
              </a:spcAft>
              <a:buNone/>
            </a:pPr>
            <a:r>
              <a:rPr b="1" lang="en" sz="1400"/>
              <a:t>Methodology:</a:t>
            </a:r>
            <a:endParaRPr b="1" sz="1400"/>
          </a:p>
          <a:p>
            <a:pPr indent="-311150" lvl="0" marL="457200" rtl="0" algn="l">
              <a:lnSpc>
                <a:spcPct val="100000"/>
              </a:lnSpc>
              <a:spcBef>
                <a:spcPts val="1200"/>
              </a:spcBef>
              <a:spcAft>
                <a:spcPts val="0"/>
              </a:spcAft>
              <a:buClr>
                <a:srgbClr val="0D0D0D"/>
              </a:buClr>
              <a:buSzPts val="1300"/>
              <a:buFont typeface="Arial"/>
              <a:buChar char="●"/>
            </a:pPr>
            <a:r>
              <a:rPr lang="en" sz="1300">
                <a:solidFill>
                  <a:srgbClr val="0D0D0D"/>
                </a:solidFill>
                <a:latin typeface="Arial"/>
                <a:ea typeface="Arial"/>
                <a:cs typeface="Arial"/>
                <a:sym typeface="Arial"/>
              </a:rPr>
              <a:t>Flexible PDK: We're building a customizable Process Design Kit (PDK) to suit user needs.</a:t>
            </a:r>
            <a:endParaRPr sz="1300">
              <a:solidFill>
                <a:srgbClr val="0D0D0D"/>
              </a:solidFill>
              <a:latin typeface="Arial"/>
              <a:ea typeface="Arial"/>
              <a:cs typeface="Arial"/>
              <a:sym typeface="Arial"/>
            </a:endParaRPr>
          </a:p>
          <a:p>
            <a:pPr indent="-311150" lvl="0" marL="457200" rtl="0" algn="l">
              <a:lnSpc>
                <a:spcPct val="100000"/>
              </a:lnSpc>
              <a:spcBef>
                <a:spcPts val="0"/>
              </a:spcBef>
              <a:spcAft>
                <a:spcPts val="0"/>
              </a:spcAft>
              <a:buClr>
                <a:srgbClr val="0D0D0D"/>
              </a:buClr>
              <a:buSzPts val="1300"/>
              <a:buFont typeface="Arial"/>
              <a:buChar char="●"/>
            </a:pPr>
            <a:r>
              <a:rPr lang="en" sz="1300">
                <a:solidFill>
                  <a:srgbClr val="0D0D0D"/>
                </a:solidFill>
                <a:latin typeface="Arial"/>
                <a:ea typeface="Arial"/>
                <a:cs typeface="Arial"/>
                <a:sym typeface="Arial"/>
              </a:rPr>
              <a:t>Streamlined Layout Tools: Developing specialized tools for efficient 3D interconnection layout.</a:t>
            </a:r>
            <a:endParaRPr sz="1300">
              <a:solidFill>
                <a:srgbClr val="0D0D0D"/>
              </a:solidFill>
              <a:latin typeface="Arial"/>
              <a:ea typeface="Arial"/>
              <a:cs typeface="Arial"/>
              <a:sym typeface="Arial"/>
            </a:endParaRPr>
          </a:p>
          <a:p>
            <a:pPr indent="-311150" lvl="0" marL="457200" rtl="0" algn="l">
              <a:lnSpc>
                <a:spcPct val="100000"/>
              </a:lnSpc>
              <a:spcBef>
                <a:spcPts val="0"/>
              </a:spcBef>
              <a:spcAft>
                <a:spcPts val="0"/>
              </a:spcAft>
              <a:buClr>
                <a:srgbClr val="0D0D0D"/>
              </a:buClr>
              <a:buSzPts val="1300"/>
              <a:buFont typeface="Arial"/>
              <a:buChar char="●"/>
            </a:pPr>
            <a:r>
              <a:rPr lang="en" sz="1300">
                <a:solidFill>
                  <a:srgbClr val="0D0D0D"/>
                </a:solidFill>
                <a:latin typeface="Arial"/>
                <a:ea typeface="Arial"/>
                <a:cs typeface="Arial"/>
                <a:sym typeface="Arial"/>
              </a:rPr>
              <a:t>Intuitive Interface: Creating a user-friendly interface for easy PDK customization.</a:t>
            </a:r>
            <a:endParaRPr sz="1300">
              <a:solidFill>
                <a:srgbClr val="0D0D0D"/>
              </a:solidFill>
              <a:latin typeface="Arial"/>
              <a:ea typeface="Arial"/>
              <a:cs typeface="Arial"/>
              <a:sym typeface="Arial"/>
            </a:endParaRPr>
          </a:p>
          <a:p>
            <a:pPr indent="0" lvl="0" marL="0" rtl="0" algn="l">
              <a:lnSpc>
                <a:spcPct val="115000"/>
              </a:lnSpc>
              <a:spcBef>
                <a:spcPts val="0"/>
              </a:spcBef>
              <a:spcAft>
                <a:spcPts val="0"/>
              </a:spcAft>
              <a:buNone/>
            </a:pPr>
            <a:r>
              <a:t/>
            </a:r>
            <a:endParaRPr sz="1200">
              <a:solidFill>
                <a:srgbClr val="0D0D0D"/>
              </a:solidFill>
              <a:latin typeface="Arial"/>
              <a:ea typeface="Arial"/>
              <a:cs typeface="Arial"/>
              <a:sym typeface="Arial"/>
            </a:endParaRPr>
          </a:p>
          <a:p>
            <a:pPr indent="0" lvl="0" marL="0" rtl="0" algn="l">
              <a:lnSpc>
                <a:spcPct val="100000"/>
              </a:lnSpc>
              <a:spcBef>
                <a:spcPts val="0"/>
              </a:spcBef>
              <a:spcAft>
                <a:spcPts val="0"/>
              </a:spcAft>
              <a:buNone/>
            </a:pPr>
            <a:r>
              <a:rPr b="1" lang="en" sz="1400">
                <a:solidFill>
                  <a:srgbClr val="0D0D0D"/>
                </a:solidFill>
                <a:latin typeface="Arial"/>
                <a:ea typeface="Arial"/>
                <a:cs typeface="Arial"/>
                <a:sym typeface="Arial"/>
              </a:rPr>
              <a:t>Limitation: </a:t>
            </a:r>
            <a:r>
              <a:rPr lang="en" sz="1300">
                <a:solidFill>
                  <a:schemeClr val="dk1"/>
                </a:solidFill>
                <a:latin typeface="Arial"/>
                <a:ea typeface="Arial"/>
                <a:cs typeface="Arial"/>
                <a:sym typeface="Arial"/>
              </a:rPr>
              <a:t>The paper talks about arranging parts of a 3D chip, but it forgets to check if the design is right or to simulate how it works. Also, it might only work with certain computer programs, making it hard for some designers to use</a:t>
            </a:r>
            <a:r>
              <a:rPr lang="en" sz="1200">
                <a:solidFill>
                  <a:schemeClr val="dk1"/>
                </a:solidFill>
                <a:latin typeface="Arial"/>
                <a:ea typeface="Arial"/>
                <a:cs typeface="Arial"/>
                <a:sym typeface="Arial"/>
              </a:rPr>
              <a:t>.</a:t>
            </a:r>
            <a:r>
              <a:rPr b="1" lang="en" sz="1400">
                <a:solidFill>
                  <a:srgbClr val="0D0D0D"/>
                </a:solidFill>
                <a:latin typeface="Arial"/>
                <a:ea typeface="Arial"/>
                <a:cs typeface="Arial"/>
                <a:sym typeface="Arial"/>
              </a:rPr>
              <a:t> </a:t>
            </a:r>
            <a:endParaRPr b="1" sz="1400">
              <a:solidFill>
                <a:srgbClr val="0D0D0D"/>
              </a:solidFill>
              <a:latin typeface="Arial"/>
              <a:ea typeface="Arial"/>
              <a:cs typeface="Arial"/>
              <a:sym typeface="Arial"/>
            </a:endParaRPr>
          </a:p>
          <a:p>
            <a:pPr indent="0" lvl="0" marL="0" rtl="0" algn="l">
              <a:lnSpc>
                <a:spcPct val="100000"/>
              </a:lnSpc>
              <a:spcBef>
                <a:spcPts val="0"/>
              </a:spcBef>
              <a:spcAft>
                <a:spcPts val="0"/>
              </a:spcAft>
              <a:buNone/>
            </a:pPr>
            <a:r>
              <a:t/>
            </a:r>
            <a:endParaRPr b="1" sz="1400">
              <a:solidFill>
                <a:srgbClr val="0D0D0D"/>
              </a:solidFill>
              <a:latin typeface="Arial"/>
              <a:ea typeface="Arial"/>
              <a:cs typeface="Arial"/>
              <a:sym typeface="Arial"/>
            </a:endParaRPr>
          </a:p>
          <a:p>
            <a:pPr indent="0" lvl="0" marL="0" rtl="0" algn="l">
              <a:lnSpc>
                <a:spcPct val="100000"/>
              </a:lnSpc>
              <a:spcBef>
                <a:spcPts val="0"/>
              </a:spcBef>
              <a:spcAft>
                <a:spcPts val="0"/>
              </a:spcAft>
              <a:buNone/>
            </a:pPr>
            <a:r>
              <a:rPr b="1" lang="en" sz="1400">
                <a:solidFill>
                  <a:srgbClr val="0D0D0D"/>
                </a:solidFill>
                <a:latin typeface="Arial"/>
                <a:ea typeface="Arial"/>
                <a:cs typeface="Arial"/>
                <a:sym typeface="Arial"/>
              </a:rPr>
              <a:t>Future work: </a:t>
            </a:r>
            <a:r>
              <a:rPr lang="en" sz="1300">
                <a:solidFill>
                  <a:schemeClr val="dk1"/>
                </a:solidFill>
                <a:latin typeface="Arial"/>
                <a:ea typeface="Arial"/>
                <a:cs typeface="Arial"/>
                <a:sym typeface="Arial"/>
              </a:rPr>
              <a:t>To enhance the method, we should include steps to check if the design functions properly and simulate its behavior. By adhering to industry standards, we can ensure wider applicability, making the approach more useful and adaptable for various projects.</a:t>
            </a:r>
            <a:endParaRPr sz="1500">
              <a:solidFill>
                <a:srgbClr val="0D0D0D"/>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6"/>
          <p:cNvSpPr txBox="1"/>
          <p:nvPr>
            <p:ph type="title"/>
          </p:nvPr>
        </p:nvSpPr>
        <p:spPr>
          <a:xfrm>
            <a:off x="266950" y="4450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Paper Review  </a:t>
            </a:r>
            <a:endParaRPr/>
          </a:p>
        </p:txBody>
      </p:sp>
      <p:sp>
        <p:nvSpPr>
          <p:cNvPr id="485" name="Google Shape;485;p56"/>
          <p:cNvSpPr txBox="1"/>
          <p:nvPr>
            <p:ph idx="1" type="body"/>
          </p:nvPr>
        </p:nvSpPr>
        <p:spPr>
          <a:xfrm>
            <a:off x="266950" y="1017725"/>
            <a:ext cx="8163900" cy="38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Arial"/>
                <a:ea typeface="Arial"/>
                <a:cs typeface="Arial"/>
                <a:sym typeface="Arial"/>
              </a:rPr>
              <a:t>Title:</a:t>
            </a:r>
            <a:r>
              <a:rPr lang="en" sz="1400">
                <a:latin typeface="Arial"/>
                <a:ea typeface="Arial"/>
                <a:cs typeface="Arial"/>
                <a:sym typeface="Arial"/>
              </a:rPr>
              <a:t> </a:t>
            </a:r>
            <a:r>
              <a:rPr lang="en" sz="1400">
                <a:solidFill>
                  <a:schemeClr val="dk1"/>
                </a:solidFill>
                <a:latin typeface="Arial"/>
                <a:ea typeface="Arial"/>
                <a:cs typeface="Arial"/>
                <a:sym typeface="Arial"/>
              </a:rPr>
              <a:t>Strategies for Web Application Development Methodologies</a:t>
            </a:r>
            <a:br>
              <a:rPr lang="en" sz="1400">
                <a:solidFill>
                  <a:schemeClr val="dk1"/>
                </a:solidFill>
                <a:latin typeface="Arial"/>
                <a:ea typeface="Arial"/>
                <a:cs typeface="Arial"/>
                <a:sym typeface="Arial"/>
              </a:rPr>
            </a:br>
            <a:r>
              <a:rPr b="1" lang="en" sz="1400">
                <a:solidFill>
                  <a:schemeClr val="dk1"/>
                </a:solidFill>
              </a:rPr>
              <a:t>Methodology:</a:t>
            </a:r>
            <a:endParaRPr b="1" sz="14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latin typeface="Arial"/>
                <a:ea typeface="Arial"/>
                <a:cs typeface="Arial"/>
                <a:sym typeface="Arial"/>
              </a:rPr>
              <a:t>The methodology looks into different approaches to web application development, such as Agile, object-oriented, and UML-based techniques.</a:t>
            </a:r>
            <a:endParaRPr sz="1300">
              <a:solidFill>
                <a:schemeClr val="dk1"/>
              </a:solidFill>
              <a:latin typeface="Arial"/>
              <a:ea typeface="Arial"/>
              <a:cs typeface="Arial"/>
              <a:sym typeface="Arial"/>
            </a:endParaRPr>
          </a:p>
          <a:p>
            <a:pPr indent="-311150" lvl="0" marL="457200" rtl="0" algn="l">
              <a:spcBef>
                <a:spcPts val="0"/>
              </a:spcBef>
              <a:spcAft>
                <a:spcPts val="0"/>
              </a:spcAft>
              <a:buClr>
                <a:schemeClr val="dk1"/>
              </a:buClr>
              <a:buSzPts val="1300"/>
              <a:buFont typeface="Arial"/>
              <a:buChar char="●"/>
            </a:pPr>
            <a:r>
              <a:rPr lang="en" sz="1300">
                <a:solidFill>
                  <a:schemeClr val="dk1"/>
                </a:solidFill>
                <a:latin typeface="Arial"/>
                <a:ea typeface="Arial"/>
                <a:cs typeface="Arial"/>
                <a:sym typeface="Arial"/>
              </a:rPr>
              <a:t>It uses methods like Web Composition and CORBA, as well as Object-Oriented Development approaches like Agile Web Development with Web Frameworks (AWDWF) and Extreme Programming(XP).</a:t>
            </a:r>
            <a:endParaRPr sz="1300">
              <a:solidFill>
                <a:schemeClr val="dk1"/>
              </a:solidFill>
              <a:latin typeface="Arial"/>
              <a:ea typeface="Arial"/>
              <a:cs typeface="Arial"/>
              <a:sym typeface="Arial"/>
            </a:endParaRPr>
          </a:p>
          <a:p>
            <a:pPr indent="0" lvl="0" marL="0" rtl="0" algn="l">
              <a:spcBef>
                <a:spcPts val="1200"/>
              </a:spcBef>
              <a:spcAft>
                <a:spcPts val="0"/>
              </a:spcAft>
              <a:buNone/>
            </a:pPr>
            <a:r>
              <a:rPr b="1" lang="en" sz="1400"/>
              <a:t>Limitation: </a:t>
            </a:r>
            <a:endParaRPr b="1" sz="1400"/>
          </a:p>
          <a:p>
            <a:pPr indent="-311150" lvl="0" marL="457200" rtl="0" algn="l">
              <a:spcBef>
                <a:spcPts val="1200"/>
              </a:spcBef>
              <a:spcAft>
                <a:spcPts val="0"/>
              </a:spcAft>
              <a:buSzPts val="1300"/>
              <a:buFont typeface="Arial"/>
              <a:buChar char="●"/>
            </a:pPr>
            <a:r>
              <a:rPr lang="en" sz="1300">
                <a:solidFill>
                  <a:schemeClr val="dk1"/>
                </a:solidFill>
                <a:latin typeface="Arial"/>
                <a:ea typeface="Arial"/>
                <a:cs typeface="Arial"/>
                <a:sym typeface="Arial"/>
              </a:rPr>
              <a:t>The website adoption process may be affected by the paper’s inadequate advice on switching from conventional software development to web-specific techniques.</a:t>
            </a:r>
            <a:endParaRPr sz="1300">
              <a:solidFill>
                <a:schemeClr val="dk1"/>
              </a:solidFill>
              <a:latin typeface="Arial"/>
              <a:ea typeface="Arial"/>
              <a:cs typeface="Arial"/>
              <a:sym typeface="Arial"/>
            </a:endParaRPr>
          </a:p>
          <a:p>
            <a:pPr indent="-311150" lvl="0" marL="457200" rtl="0" algn="l">
              <a:spcBef>
                <a:spcPts val="0"/>
              </a:spcBef>
              <a:spcAft>
                <a:spcPts val="0"/>
              </a:spcAft>
              <a:buClr>
                <a:schemeClr val="dk1"/>
              </a:buClr>
              <a:buSzPts val="1300"/>
              <a:buFont typeface="Arial"/>
              <a:buChar char="●"/>
            </a:pPr>
            <a:r>
              <a:rPr lang="en" sz="1300">
                <a:solidFill>
                  <a:schemeClr val="dk1"/>
                </a:solidFill>
                <a:latin typeface="Arial"/>
                <a:ea typeface="Arial"/>
                <a:cs typeface="Arial"/>
                <a:sym typeface="Arial"/>
              </a:rPr>
              <a:t>The paper may not provide sufficient solutions for scalability issues in large or complex web applications, thus requiring additional strategies.</a:t>
            </a:r>
            <a:endParaRPr b="1" sz="1300">
              <a:latin typeface="Arial"/>
              <a:ea typeface="Arial"/>
              <a:cs typeface="Arial"/>
              <a:sym typeface="Arial"/>
            </a:endParaRPr>
          </a:p>
          <a:p>
            <a:pPr indent="0" lvl="0" marL="0" rtl="0" algn="l">
              <a:spcBef>
                <a:spcPts val="1200"/>
              </a:spcBef>
              <a:spcAft>
                <a:spcPts val="1200"/>
              </a:spcAft>
              <a:buNone/>
            </a:pPr>
            <a:r>
              <a:rPr b="1" lang="en" sz="1400"/>
              <a:t>Future work: </a:t>
            </a:r>
            <a:r>
              <a:rPr lang="en" sz="1300">
                <a:latin typeface="Arial"/>
                <a:ea typeface="Arial"/>
                <a:cs typeface="Arial"/>
                <a:sym typeface="Arial"/>
              </a:rPr>
              <a:t>The next attempt in web app development should focus on improving agile techniques, incorporating modern technologies, and increasing security through collaboration between fields.</a:t>
            </a:r>
            <a:endParaRPr sz="13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7"/>
          <p:cNvSpPr txBox="1"/>
          <p:nvPr>
            <p:ph type="title"/>
          </p:nvPr>
        </p:nvSpPr>
        <p:spPr>
          <a:xfrm>
            <a:off x="266950" y="1402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Paper Review  </a:t>
            </a:r>
            <a:endParaRPr/>
          </a:p>
        </p:txBody>
      </p:sp>
      <p:sp>
        <p:nvSpPr>
          <p:cNvPr id="491" name="Google Shape;491;p57"/>
          <p:cNvSpPr txBox="1"/>
          <p:nvPr>
            <p:ph idx="4294967295" type="body"/>
          </p:nvPr>
        </p:nvSpPr>
        <p:spPr>
          <a:xfrm>
            <a:off x="197850" y="712925"/>
            <a:ext cx="8817300" cy="38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Arial"/>
                <a:ea typeface="Arial"/>
                <a:cs typeface="Arial"/>
                <a:sym typeface="Arial"/>
              </a:rPr>
              <a:t>Title: </a:t>
            </a:r>
            <a:r>
              <a:rPr lang="en" sz="1400">
                <a:solidFill>
                  <a:schemeClr val="dk1"/>
                </a:solidFill>
                <a:latin typeface="Arial"/>
                <a:ea typeface="Arial"/>
                <a:cs typeface="Arial"/>
                <a:sym typeface="Arial"/>
              </a:rPr>
              <a:t>An Approach for Systems Identification Using Artificial Intelligence</a:t>
            </a:r>
            <a:r>
              <a:rPr lang="en" sz="1200">
                <a:solidFill>
                  <a:srgbClr val="0D0D0D"/>
                </a:solidFill>
                <a:latin typeface="Roboto"/>
                <a:ea typeface="Roboto"/>
                <a:cs typeface="Roboto"/>
                <a:sym typeface="Roboto"/>
              </a:rPr>
              <a:t>  </a:t>
            </a:r>
            <a:br>
              <a:rPr lang="en" sz="1400">
                <a:solidFill>
                  <a:schemeClr val="dk1"/>
                </a:solidFill>
                <a:latin typeface="Arial"/>
                <a:ea typeface="Arial"/>
                <a:cs typeface="Arial"/>
                <a:sym typeface="Arial"/>
              </a:rPr>
            </a:br>
            <a:r>
              <a:rPr b="1" lang="en" sz="1400">
                <a:solidFill>
                  <a:schemeClr val="dk1"/>
                </a:solidFill>
              </a:rPr>
              <a:t>Methodology:</a:t>
            </a:r>
            <a:endParaRPr b="1" sz="1400">
              <a:solidFill>
                <a:schemeClr val="dk1"/>
              </a:solidFill>
            </a:endParaRPr>
          </a:p>
          <a:p>
            <a:pPr indent="-311150" lvl="0" marL="457200" rtl="0" algn="l">
              <a:spcBef>
                <a:spcPts val="1200"/>
              </a:spcBef>
              <a:spcAft>
                <a:spcPts val="0"/>
              </a:spcAft>
              <a:buClr>
                <a:schemeClr val="dk1"/>
              </a:buClr>
              <a:buSzPts val="1300"/>
              <a:buFont typeface="Arial"/>
              <a:buChar char="●"/>
            </a:pPr>
            <a:r>
              <a:rPr lang="en" sz="1300">
                <a:solidFill>
                  <a:schemeClr val="dk1"/>
                </a:solidFill>
                <a:latin typeface="Arial"/>
                <a:ea typeface="Arial"/>
                <a:cs typeface="Arial"/>
                <a:sym typeface="Arial"/>
              </a:rPr>
              <a:t>A genetic algorithm is defined by the researchers using particular parameters such as population size, crossover rate, and mutation rate. The algorithm looks for the best solutions within the data set using this configuration as a guide.</a:t>
            </a:r>
            <a:endParaRPr sz="1300">
              <a:solidFill>
                <a:schemeClr val="dk1"/>
              </a:solidFill>
              <a:latin typeface="Arial"/>
              <a:ea typeface="Arial"/>
              <a:cs typeface="Arial"/>
              <a:sym typeface="Arial"/>
            </a:endParaRPr>
          </a:p>
          <a:p>
            <a:pPr indent="-311150" lvl="0" marL="457200" rtl="0" algn="l">
              <a:spcBef>
                <a:spcPts val="0"/>
              </a:spcBef>
              <a:spcAft>
                <a:spcPts val="0"/>
              </a:spcAft>
              <a:buClr>
                <a:schemeClr val="dk1"/>
              </a:buClr>
              <a:buSzPts val="1300"/>
              <a:buFont typeface="Arial"/>
              <a:buChar char="●"/>
            </a:pPr>
            <a:r>
              <a:rPr lang="en" sz="1300">
                <a:solidFill>
                  <a:schemeClr val="dk1"/>
                </a:solidFill>
                <a:latin typeface="Arial"/>
                <a:ea typeface="Arial"/>
                <a:cs typeface="Arial"/>
                <a:sym typeface="Arial"/>
              </a:rPr>
              <a:t>The input of the system consists of actual data points from the electrophoresis test. Next, each possible solution (chromosome) is assessed using a fitness function to see how well it fits the real data points.</a:t>
            </a:r>
            <a:endParaRPr sz="1300">
              <a:solidFill>
                <a:schemeClr val="dk1"/>
              </a:solidFill>
              <a:latin typeface="Arial"/>
              <a:ea typeface="Arial"/>
              <a:cs typeface="Arial"/>
              <a:sym typeface="Arial"/>
            </a:endParaRPr>
          </a:p>
          <a:p>
            <a:pPr indent="0" lvl="0" marL="0" rtl="0" algn="l">
              <a:spcBef>
                <a:spcPts val="1200"/>
              </a:spcBef>
              <a:spcAft>
                <a:spcPts val="0"/>
              </a:spcAft>
              <a:buNone/>
            </a:pPr>
            <a:r>
              <a:rPr b="1" lang="en" sz="1400"/>
              <a:t>Limitation: </a:t>
            </a:r>
            <a:endParaRPr b="1" sz="1400"/>
          </a:p>
          <a:p>
            <a:pPr indent="-311150" lvl="0" marL="457200" rtl="0" algn="l">
              <a:spcBef>
                <a:spcPts val="1200"/>
              </a:spcBef>
              <a:spcAft>
                <a:spcPts val="0"/>
              </a:spcAft>
              <a:buSzPts val="1300"/>
              <a:buFont typeface="Arial"/>
              <a:buChar char="●"/>
            </a:pPr>
            <a:r>
              <a:rPr lang="en" sz="1300">
                <a:solidFill>
                  <a:schemeClr val="dk1"/>
                </a:solidFill>
                <a:latin typeface="Arial"/>
                <a:ea typeface="Arial"/>
                <a:cs typeface="Arial"/>
                <a:sym typeface="Arial"/>
              </a:rPr>
              <a:t>The interpretation of electrophoresis tests is the exclusive subject of the current study. If the technique can be used to analyze other kinds of medical tests with various data structures, more research is required.</a:t>
            </a:r>
            <a:endParaRPr sz="1300">
              <a:solidFill>
                <a:schemeClr val="dk1"/>
              </a:solidFill>
              <a:latin typeface="Arial"/>
              <a:ea typeface="Arial"/>
              <a:cs typeface="Arial"/>
              <a:sym typeface="Arial"/>
            </a:endParaRPr>
          </a:p>
          <a:p>
            <a:pPr indent="-311150" lvl="0" marL="457200" rtl="0" algn="l">
              <a:spcBef>
                <a:spcPts val="0"/>
              </a:spcBef>
              <a:spcAft>
                <a:spcPts val="0"/>
              </a:spcAft>
              <a:buClr>
                <a:schemeClr val="dk1"/>
              </a:buClr>
              <a:buSzPts val="1300"/>
              <a:buFont typeface="Arial"/>
              <a:buChar char="●"/>
            </a:pPr>
            <a:r>
              <a:rPr lang="en" sz="1300">
                <a:solidFill>
                  <a:schemeClr val="dk1"/>
                </a:solidFill>
                <a:latin typeface="Arial"/>
                <a:ea typeface="Arial"/>
                <a:cs typeface="Arial"/>
                <a:sym typeface="Arial"/>
              </a:rPr>
              <a:t>The user's initial configuration has a significant impact on how effective the genetic algorithm is. If the algorithm is not properly tuned, it may have trouble locating the best answers.</a:t>
            </a:r>
            <a:endParaRPr sz="1300">
              <a:solidFill>
                <a:schemeClr val="dk1"/>
              </a:solidFill>
              <a:latin typeface="Arial"/>
              <a:ea typeface="Arial"/>
              <a:cs typeface="Arial"/>
              <a:sym typeface="Arial"/>
            </a:endParaRPr>
          </a:p>
          <a:p>
            <a:pPr indent="0" lvl="0" marL="0" rtl="0" algn="l">
              <a:spcBef>
                <a:spcPts val="1200"/>
              </a:spcBef>
              <a:spcAft>
                <a:spcPts val="1200"/>
              </a:spcAft>
              <a:buNone/>
            </a:pPr>
            <a:r>
              <a:rPr b="1" lang="en" sz="1400"/>
              <a:t>Future work: </a:t>
            </a:r>
            <a:r>
              <a:rPr lang="en" sz="1300">
                <a:solidFill>
                  <a:schemeClr val="dk1"/>
                </a:solidFill>
                <a:latin typeface="Arial"/>
                <a:ea typeface="Arial"/>
                <a:cs typeface="Arial"/>
                <a:sym typeface="Arial"/>
              </a:rPr>
              <a:t>This AI approach could go beyond medicine, according to the researchers. Its potential in business and logistics will be investigated, and it will be customized to examine various data unique to those domains.</a:t>
            </a:r>
            <a:endParaRPr sz="13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8"/>
          <p:cNvSpPr txBox="1"/>
          <p:nvPr>
            <p:ph type="title"/>
          </p:nvPr>
        </p:nvSpPr>
        <p:spPr>
          <a:xfrm>
            <a:off x="266950" y="4450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Paper Review  </a:t>
            </a:r>
            <a:endParaRPr/>
          </a:p>
        </p:txBody>
      </p:sp>
      <p:sp>
        <p:nvSpPr>
          <p:cNvPr id="497" name="Google Shape;497;p58"/>
          <p:cNvSpPr txBox="1"/>
          <p:nvPr>
            <p:ph idx="4294967295" type="body"/>
          </p:nvPr>
        </p:nvSpPr>
        <p:spPr>
          <a:xfrm>
            <a:off x="266950" y="1017725"/>
            <a:ext cx="8163900" cy="38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Arial"/>
                <a:ea typeface="Arial"/>
                <a:cs typeface="Arial"/>
                <a:sym typeface="Arial"/>
              </a:rPr>
              <a:t>Title: </a:t>
            </a:r>
            <a:r>
              <a:rPr lang="en" sz="1400">
                <a:solidFill>
                  <a:schemeClr val="dk1"/>
                </a:solidFill>
                <a:latin typeface="Arial"/>
                <a:ea typeface="Arial"/>
                <a:cs typeface="Arial"/>
                <a:sym typeface="Arial"/>
              </a:rPr>
              <a:t>TOWARDS NEXT GENERATION 3D TELECONFERENCING SYSTEMS</a:t>
            </a:r>
            <a:br>
              <a:rPr lang="en" sz="1400">
                <a:solidFill>
                  <a:schemeClr val="dk1"/>
                </a:solidFill>
                <a:latin typeface="Arial"/>
                <a:ea typeface="Arial"/>
                <a:cs typeface="Arial"/>
                <a:sym typeface="Arial"/>
              </a:rPr>
            </a:br>
            <a:r>
              <a:rPr b="1" lang="en" sz="1400">
                <a:solidFill>
                  <a:schemeClr val="dk1"/>
                </a:solidFill>
              </a:rPr>
              <a:t>Methodology:</a:t>
            </a:r>
            <a:endParaRPr b="1" sz="1400">
              <a:solidFill>
                <a:schemeClr val="dk1"/>
              </a:solidFill>
            </a:endParaRPr>
          </a:p>
          <a:p>
            <a:pPr indent="-317500" lvl="0" marL="457200" rtl="0" algn="l">
              <a:spcBef>
                <a:spcPts val="1200"/>
              </a:spcBef>
              <a:spcAft>
                <a:spcPts val="0"/>
              </a:spcAft>
              <a:buClr>
                <a:srgbClr val="0D0D0D"/>
              </a:buClr>
              <a:buSzPts val="1400"/>
              <a:buFont typeface="Roboto"/>
              <a:buChar char="●"/>
            </a:pPr>
            <a:r>
              <a:rPr lang="en" sz="1300">
                <a:solidFill>
                  <a:schemeClr val="dk1"/>
                </a:solidFill>
                <a:latin typeface="Arial"/>
                <a:ea typeface="Arial"/>
                <a:cs typeface="Arial"/>
                <a:sym typeface="Arial"/>
              </a:rPr>
              <a:t>Video Capture: The system records 3D video with special cameras and quickly cleans up the data, separating what's important from what's not.</a:t>
            </a:r>
            <a:endParaRPr sz="1300">
              <a:solidFill>
                <a:schemeClr val="dk1"/>
              </a:solidFill>
              <a:latin typeface="Arial"/>
              <a:ea typeface="Arial"/>
              <a:cs typeface="Arial"/>
              <a:sym typeface="Arial"/>
            </a:endParaRPr>
          </a:p>
          <a:p>
            <a:pPr indent="-317500" lvl="0" marL="457200" rtl="0" algn="l">
              <a:spcBef>
                <a:spcPts val="0"/>
              </a:spcBef>
              <a:spcAft>
                <a:spcPts val="0"/>
              </a:spcAft>
              <a:buClr>
                <a:srgbClr val="0D0D0D"/>
              </a:buClr>
              <a:buSzPts val="1400"/>
              <a:buFont typeface="Roboto"/>
              <a:buChar char="●"/>
            </a:pPr>
            <a:r>
              <a:rPr lang="en" sz="1300">
                <a:solidFill>
                  <a:schemeClr val="dk1"/>
                </a:solidFill>
                <a:latin typeface="Arial"/>
                <a:ea typeface="Arial"/>
                <a:cs typeface="Arial"/>
                <a:sym typeface="Arial"/>
              </a:rPr>
              <a:t>Sending Data: It compresses the 3D video using a common method for regular videos, making it easier to send over the internet or other networks.</a:t>
            </a:r>
            <a:endParaRPr sz="1300">
              <a:solidFill>
                <a:schemeClr val="dk1"/>
              </a:solidFill>
              <a:latin typeface="Arial"/>
              <a:ea typeface="Arial"/>
              <a:cs typeface="Arial"/>
              <a:sym typeface="Arial"/>
            </a:endParaRPr>
          </a:p>
          <a:p>
            <a:pPr indent="-317500" lvl="0" marL="457200" rtl="0" algn="l">
              <a:spcBef>
                <a:spcPts val="0"/>
              </a:spcBef>
              <a:spcAft>
                <a:spcPts val="0"/>
              </a:spcAft>
              <a:buClr>
                <a:srgbClr val="0D0D0D"/>
              </a:buClr>
              <a:buSzPts val="1400"/>
              <a:buFont typeface="Roboto"/>
              <a:buChar char="●"/>
            </a:pPr>
            <a:r>
              <a:rPr lang="en" sz="1300">
                <a:solidFill>
                  <a:schemeClr val="dk1"/>
                </a:solidFill>
                <a:latin typeface="Arial"/>
                <a:ea typeface="Arial"/>
                <a:cs typeface="Arial"/>
                <a:sym typeface="Arial"/>
              </a:rPr>
              <a:t>Viewing: It tries out different ways to show the 3D video, like using special screens that make the images pop out, giving viewers an immersive experience.</a:t>
            </a:r>
            <a:endParaRPr sz="1300">
              <a:solidFill>
                <a:schemeClr val="dk1"/>
              </a:solidFill>
              <a:latin typeface="Arial"/>
              <a:ea typeface="Arial"/>
              <a:cs typeface="Arial"/>
              <a:sym typeface="Arial"/>
            </a:endParaRPr>
          </a:p>
          <a:p>
            <a:pPr indent="0" lvl="0" marL="457200" rtl="0" algn="l">
              <a:spcBef>
                <a:spcPts val="0"/>
              </a:spcBef>
              <a:spcAft>
                <a:spcPts val="0"/>
              </a:spcAft>
              <a:buNone/>
            </a:pPr>
            <a:r>
              <a:t/>
            </a:r>
            <a:endParaRPr sz="1300">
              <a:solidFill>
                <a:schemeClr val="dk1"/>
              </a:solidFill>
              <a:latin typeface="Arial"/>
              <a:ea typeface="Arial"/>
              <a:cs typeface="Arial"/>
              <a:sym typeface="Arial"/>
            </a:endParaRPr>
          </a:p>
          <a:p>
            <a:pPr indent="0" lvl="0" marL="0" rtl="0" algn="l">
              <a:spcBef>
                <a:spcPts val="0"/>
              </a:spcBef>
              <a:spcAft>
                <a:spcPts val="0"/>
              </a:spcAft>
              <a:buNone/>
            </a:pPr>
            <a:r>
              <a:rPr b="1" lang="en" sz="1400"/>
              <a:t>Limitation: </a:t>
            </a:r>
            <a:r>
              <a:rPr lang="en" sz="1300">
                <a:solidFill>
                  <a:schemeClr val="dk1"/>
                </a:solidFill>
                <a:latin typeface="Arial"/>
                <a:ea typeface="Arial"/>
                <a:cs typeface="Arial"/>
                <a:sym typeface="Arial"/>
              </a:rPr>
              <a:t>The paper acknowledges challenges like fitting the system on a mobile robot and handling power usage. Display limitations include brightness drop-off outside the best viewing angle and issues in darker scenes.</a:t>
            </a:r>
            <a:endParaRPr sz="1500">
              <a:solidFill>
                <a:schemeClr val="dk1"/>
              </a:solidFill>
              <a:latin typeface="Arial"/>
              <a:ea typeface="Arial"/>
              <a:cs typeface="Arial"/>
              <a:sym typeface="Arial"/>
            </a:endParaRPr>
          </a:p>
          <a:p>
            <a:pPr indent="0" lvl="0" marL="0" rtl="0" algn="l">
              <a:spcBef>
                <a:spcPts val="1200"/>
              </a:spcBef>
              <a:spcAft>
                <a:spcPts val="1200"/>
              </a:spcAft>
              <a:buNone/>
            </a:pPr>
            <a:r>
              <a:rPr b="1" lang="en" sz="1400"/>
              <a:t>Future work: </a:t>
            </a:r>
            <a:r>
              <a:rPr lang="en" sz="1300">
                <a:solidFill>
                  <a:schemeClr val="dk1"/>
                </a:solidFill>
                <a:latin typeface="Arial"/>
                <a:ea typeface="Arial"/>
                <a:cs typeface="Arial"/>
                <a:sym typeface="Arial"/>
              </a:rPr>
              <a:t>Integrating the system into mobile robotic platforms and optimizing power consumption.</a:t>
            </a:r>
            <a:endParaRPr sz="13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9"/>
          <p:cNvSpPr txBox="1"/>
          <p:nvPr>
            <p:ph type="title"/>
          </p:nvPr>
        </p:nvSpPr>
        <p:spPr>
          <a:xfrm>
            <a:off x="810350" y="2330518"/>
            <a:ext cx="2336400" cy="40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u="sng">
                <a:solidFill>
                  <a:schemeClr val="hlink"/>
                </a:solidFill>
                <a:hlinkClick r:id="rId3"/>
              </a:rPr>
              <a:t>Github Link</a:t>
            </a:r>
            <a:endParaRPr/>
          </a:p>
        </p:txBody>
      </p:sp>
      <p:sp>
        <p:nvSpPr>
          <p:cNvPr id="503" name="Google Shape;503;p59"/>
          <p:cNvSpPr txBox="1"/>
          <p:nvPr>
            <p:ph idx="1" type="subTitle"/>
          </p:nvPr>
        </p:nvSpPr>
        <p:spPr>
          <a:xfrm>
            <a:off x="810350" y="2790774"/>
            <a:ext cx="23364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900">
                <a:solidFill>
                  <a:schemeClr val="dk1"/>
                </a:solidFill>
                <a:latin typeface="Arial"/>
                <a:ea typeface="Arial"/>
                <a:cs typeface="Arial"/>
                <a:sym typeface="Arial"/>
              </a:rPr>
              <a:t>3D library</a:t>
            </a:r>
            <a:endParaRPr sz="2000"/>
          </a:p>
        </p:txBody>
      </p:sp>
      <p:sp>
        <p:nvSpPr>
          <p:cNvPr id="504" name="Google Shape;504;p59"/>
          <p:cNvSpPr txBox="1"/>
          <p:nvPr>
            <p:ph idx="8" type="subTitle"/>
          </p:nvPr>
        </p:nvSpPr>
        <p:spPr>
          <a:xfrm>
            <a:off x="6087600" y="2855383"/>
            <a:ext cx="2336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900">
                <a:latin typeface="Arial"/>
                <a:ea typeface="Arial"/>
                <a:cs typeface="Arial"/>
                <a:sym typeface="Arial"/>
              </a:rPr>
              <a:t>Instant Chat help from AI</a:t>
            </a:r>
            <a:endParaRPr/>
          </a:p>
        </p:txBody>
      </p:sp>
      <p:sp>
        <p:nvSpPr>
          <p:cNvPr id="505" name="Google Shape;505;p59"/>
          <p:cNvSpPr txBox="1"/>
          <p:nvPr>
            <p:ph idx="4" type="title"/>
          </p:nvPr>
        </p:nvSpPr>
        <p:spPr>
          <a:xfrm>
            <a:off x="3442563" y="1651025"/>
            <a:ext cx="190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600"/>
              <a:t>React JS</a:t>
            </a:r>
            <a:endParaRPr b="1" sz="2600"/>
          </a:p>
        </p:txBody>
      </p:sp>
      <p:sp>
        <p:nvSpPr>
          <p:cNvPr id="506" name="Google Shape;506;p59"/>
          <p:cNvSpPr txBox="1"/>
          <p:nvPr>
            <p:ph idx="2" type="title"/>
          </p:nvPr>
        </p:nvSpPr>
        <p:spPr>
          <a:xfrm>
            <a:off x="624975" y="1651013"/>
            <a:ext cx="2283000" cy="67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600"/>
              <a:t>ThreeJS</a:t>
            </a:r>
            <a:endParaRPr b="1" sz="2600"/>
          </a:p>
        </p:txBody>
      </p:sp>
      <p:sp>
        <p:nvSpPr>
          <p:cNvPr id="507" name="Google Shape;507;p59"/>
          <p:cNvSpPr txBox="1"/>
          <p:nvPr>
            <p:ph idx="3" type="title"/>
          </p:nvPr>
        </p:nvSpPr>
        <p:spPr>
          <a:xfrm>
            <a:off x="3284413" y="2337043"/>
            <a:ext cx="2336400" cy="40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u="sng">
                <a:solidFill>
                  <a:schemeClr val="hlink"/>
                </a:solidFill>
                <a:hlinkClick r:id="rId4"/>
              </a:rPr>
              <a:t>Github Link</a:t>
            </a:r>
            <a:endParaRPr/>
          </a:p>
        </p:txBody>
      </p:sp>
      <p:sp>
        <p:nvSpPr>
          <p:cNvPr id="508" name="Google Shape;508;p59"/>
          <p:cNvSpPr txBox="1"/>
          <p:nvPr>
            <p:ph idx="5" type="subTitle"/>
          </p:nvPr>
        </p:nvSpPr>
        <p:spPr>
          <a:xfrm>
            <a:off x="3179425" y="2855375"/>
            <a:ext cx="2546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900">
                <a:latin typeface="Arial"/>
                <a:ea typeface="Arial"/>
                <a:cs typeface="Arial"/>
                <a:sym typeface="Arial"/>
              </a:rPr>
              <a:t>Frontend Development</a:t>
            </a:r>
            <a:endParaRPr sz="1900">
              <a:latin typeface="Arial"/>
              <a:ea typeface="Arial"/>
              <a:cs typeface="Arial"/>
              <a:sym typeface="Arial"/>
            </a:endParaRPr>
          </a:p>
        </p:txBody>
      </p:sp>
      <p:sp>
        <p:nvSpPr>
          <p:cNvPr id="509" name="Google Shape;509;p59"/>
          <p:cNvSpPr txBox="1"/>
          <p:nvPr>
            <p:ph idx="6" type="title"/>
          </p:nvPr>
        </p:nvSpPr>
        <p:spPr>
          <a:xfrm>
            <a:off x="6002750" y="2337043"/>
            <a:ext cx="2336400" cy="40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u="sng">
                <a:solidFill>
                  <a:schemeClr val="hlink"/>
                </a:solidFill>
                <a:hlinkClick r:id="rId5"/>
              </a:rPr>
              <a:t>Github Link</a:t>
            </a:r>
            <a:endParaRPr/>
          </a:p>
        </p:txBody>
      </p:sp>
      <p:sp>
        <p:nvSpPr>
          <p:cNvPr id="510" name="Google Shape;510;p59"/>
          <p:cNvSpPr txBox="1"/>
          <p:nvPr>
            <p:ph idx="7" type="title"/>
          </p:nvPr>
        </p:nvSpPr>
        <p:spPr>
          <a:xfrm>
            <a:off x="5877650" y="1651025"/>
            <a:ext cx="2546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600"/>
              <a:t>Generative AI</a:t>
            </a:r>
            <a:endParaRPr b="1" sz="2600"/>
          </a:p>
        </p:txBody>
      </p:sp>
      <p:sp>
        <p:nvSpPr>
          <p:cNvPr id="511" name="Google Shape;511;p59"/>
          <p:cNvSpPr txBox="1"/>
          <p:nvPr>
            <p:ph idx="21" type="title"/>
          </p:nvPr>
        </p:nvSpPr>
        <p:spPr>
          <a:xfrm>
            <a:off x="2332350" y="734725"/>
            <a:ext cx="4479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Github Code Reviews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511"/>
                                        </p:tgtEl>
                                        <p:attrNameLst>
                                          <p:attrName>style.visibility</p:attrName>
                                        </p:attrNameLst>
                                      </p:cBhvr>
                                      <p:to>
                                        <p:strVal val="visible"/>
                                      </p:to>
                                    </p:set>
                                    <p:anim calcmode="lin" valueType="num">
                                      <p:cBhvr additive="base">
                                        <p:cTn dur="1000"/>
                                        <p:tgtEl>
                                          <p:spTgt spid="51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02"/>
                                        </p:tgtEl>
                                        <p:attrNameLst>
                                          <p:attrName>style.visibility</p:attrName>
                                        </p:attrNameLst>
                                      </p:cBhvr>
                                      <p:to>
                                        <p:strVal val="visible"/>
                                      </p:to>
                                    </p:set>
                                    <p:anim calcmode="lin" valueType="num">
                                      <p:cBhvr additive="base">
                                        <p:cTn dur="1000"/>
                                        <p:tgtEl>
                                          <p:spTgt spid="50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03"/>
                                        </p:tgtEl>
                                        <p:attrNameLst>
                                          <p:attrName>style.visibility</p:attrName>
                                        </p:attrNameLst>
                                      </p:cBhvr>
                                      <p:to>
                                        <p:strVal val="visible"/>
                                      </p:to>
                                    </p:set>
                                    <p:anim calcmode="lin" valueType="num">
                                      <p:cBhvr additive="base">
                                        <p:cTn dur="1000"/>
                                        <p:tgtEl>
                                          <p:spTgt spid="50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06"/>
                                        </p:tgtEl>
                                        <p:attrNameLst>
                                          <p:attrName>style.visibility</p:attrName>
                                        </p:attrNameLst>
                                      </p:cBhvr>
                                      <p:to>
                                        <p:strVal val="visible"/>
                                      </p:to>
                                    </p:set>
                                    <p:anim calcmode="lin" valueType="num">
                                      <p:cBhvr additive="base">
                                        <p:cTn dur="1000"/>
                                        <p:tgtEl>
                                          <p:spTgt spid="5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05"/>
                                        </p:tgtEl>
                                        <p:attrNameLst>
                                          <p:attrName>style.visibility</p:attrName>
                                        </p:attrNameLst>
                                      </p:cBhvr>
                                      <p:to>
                                        <p:strVal val="visible"/>
                                      </p:to>
                                    </p:set>
                                    <p:anim calcmode="lin" valueType="num">
                                      <p:cBhvr additive="base">
                                        <p:cTn dur="1000"/>
                                        <p:tgtEl>
                                          <p:spTgt spid="50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07"/>
                                        </p:tgtEl>
                                        <p:attrNameLst>
                                          <p:attrName>style.visibility</p:attrName>
                                        </p:attrNameLst>
                                      </p:cBhvr>
                                      <p:to>
                                        <p:strVal val="visible"/>
                                      </p:to>
                                    </p:set>
                                    <p:anim calcmode="lin" valueType="num">
                                      <p:cBhvr additive="base">
                                        <p:cTn dur="1000"/>
                                        <p:tgtEl>
                                          <p:spTgt spid="50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08"/>
                                        </p:tgtEl>
                                        <p:attrNameLst>
                                          <p:attrName>style.visibility</p:attrName>
                                        </p:attrNameLst>
                                      </p:cBhvr>
                                      <p:to>
                                        <p:strVal val="visible"/>
                                      </p:to>
                                    </p:set>
                                    <p:anim calcmode="lin" valueType="num">
                                      <p:cBhvr additive="base">
                                        <p:cTn dur="1000"/>
                                        <p:tgtEl>
                                          <p:spTgt spid="50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04"/>
                                        </p:tgtEl>
                                        <p:attrNameLst>
                                          <p:attrName>style.visibility</p:attrName>
                                        </p:attrNameLst>
                                      </p:cBhvr>
                                      <p:to>
                                        <p:strVal val="visible"/>
                                      </p:to>
                                    </p:set>
                                    <p:anim calcmode="lin" valueType="num">
                                      <p:cBhvr additive="base">
                                        <p:cTn dur="1000"/>
                                        <p:tgtEl>
                                          <p:spTgt spid="50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09"/>
                                        </p:tgtEl>
                                        <p:attrNameLst>
                                          <p:attrName>style.visibility</p:attrName>
                                        </p:attrNameLst>
                                      </p:cBhvr>
                                      <p:to>
                                        <p:strVal val="visible"/>
                                      </p:to>
                                    </p:set>
                                    <p:anim calcmode="lin" valueType="num">
                                      <p:cBhvr additive="base">
                                        <p:cTn dur="1000"/>
                                        <p:tgtEl>
                                          <p:spTgt spid="50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10"/>
                                        </p:tgtEl>
                                        <p:attrNameLst>
                                          <p:attrName>style.visibility</p:attrName>
                                        </p:attrNameLst>
                                      </p:cBhvr>
                                      <p:to>
                                        <p:strVal val="visible"/>
                                      </p:to>
                                    </p:set>
                                    <p:anim calcmode="lin" valueType="num">
                                      <p:cBhvr additive="base">
                                        <p:cTn dur="1000"/>
                                        <p:tgtEl>
                                          <p:spTgt spid="51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0"/>
          <p:cNvSpPr txBox="1"/>
          <p:nvPr>
            <p:ph type="title"/>
          </p:nvPr>
        </p:nvSpPr>
        <p:spPr>
          <a:xfrm>
            <a:off x="2463525" y="1906796"/>
            <a:ext cx="4323000" cy="107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